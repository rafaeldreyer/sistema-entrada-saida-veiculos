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68e964df3b54db9" /><Relationship Type="http://schemas.openxmlformats.org/officeDocument/2006/relationships/extended-properties" Target="/docProps/app.xml" Id="Rcc51469f5f8a421a" /><Relationship Type="http://schemas.openxmlformats.org/officeDocument/2006/relationships/officeDocument" Target="/ppt/presentation.xml" Id="Rf737055f64654e4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2d872816d494938"/>
  </p:sldMasterIdLst>
  <p:notesMasterIdLst>
    <p:notesMasterId xmlns:r="http://schemas.openxmlformats.org/officeDocument/2006/relationships" r:id="Re0d1c20f485e48aa"/>
  </p:notesMasterIdLst>
  <p:sldIdLst>
    <p:sldId xmlns:r="http://schemas.openxmlformats.org/officeDocument/2006/relationships" id="256" r:id="Rdd323d1216d6445d"/>
    <p:sldId xmlns:r="http://schemas.openxmlformats.org/officeDocument/2006/relationships" id="257" r:id="Refbd19e7b4d04c1b"/>
    <p:sldId xmlns:r="http://schemas.openxmlformats.org/officeDocument/2006/relationships" id="258" r:id="R3f25d50242444e9a"/>
    <p:sldId xmlns:r="http://schemas.openxmlformats.org/officeDocument/2006/relationships" id="259" r:id="R8d42c1fee3db4763"/>
    <p:sldId xmlns:r="http://schemas.openxmlformats.org/officeDocument/2006/relationships" id="260" r:id="Rd1a2de89132f48d6"/>
    <p:sldId xmlns:r="http://schemas.openxmlformats.org/officeDocument/2006/relationships" id="261" r:id="R9e063c8b118d4fa9"/>
    <p:sldId xmlns:r="http://schemas.openxmlformats.org/officeDocument/2006/relationships" id="262" r:id="R16eec0107570410c"/>
    <p:sldId xmlns:r="http://schemas.openxmlformats.org/officeDocument/2006/relationships" id="263" r:id="R77a77d7ad9d9402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d872816d494938" /><Relationship Type="http://schemas.openxmlformats.org/officeDocument/2006/relationships/theme" Target="/ppt/theme/theme1.xml" Id="R730fbb21717d41b3" /><Relationship Type="http://schemas.openxmlformats.org/officeDocument/2006/relationships/notesMaster" Target="/ppt/notesMasters/notesMaster1.xml" Id="Re0d1c20f485e48aa" /><Relationship Type="http://schemas.openxmlformats.org/officeDocument/2006/relationships/presProps" Target="/ppt/presProps.xml" Id="Re57d608cdb094a8a" /><Relationship Type="http://schemas.openxmlformats.org/officeDocument/2006/relationships/viewProps" Target="/ppt/viewProps.xml" Id="R4c1fa52211a94cfd" /><Relationship Type="http://schemas.openxmlformats.org/officeDocument/2006/relationships/tableStyles" Target="/ppt/tableStyles.xml" Id="R1a91c207a572433e" /><Relationship Type="http://schemas.openxmlformats.org/officeDocument/2006/relationships/slide" Target="/ppt/slides/slide1.xml" Id="Rdd323d1216d6445d" /><Relationship Type="http://schemas.openxmlformats.org/officeDocument/2006/relationships/slide" Target="/ppt/slides/slide2.xml" Id="Refbd19e7b4d04c1b" /><Relationship Type="http://schemas.openxmlformats.org/officeDocument/2006/relationships/slide" Target="/ppt/slides/slide3.xml" Id="R3f25d50242444e9a" /><Relationship Type="http://schemas.openxmlformats.org/officeDocument/2006/relationships/slide" Target="/ppt/slides/slide4.xml" Id="R8d42c1fee3db4763" /><Relationship Type="http://schemas.openxmlformats.org/officeDocument/2006/relationships/slide" Target="/ppt/slides/slide5.xml" Id="Rd1a2de89132f48d6" /><Relationship Type="http://schemas.openxmlformats.org/officeDocument/2006/relationships/slide" Target="/ppt/slides/slide6.xml" Id="R9e063c8b118d4fa9" /><Relationship Type="http://schemas.openxmlformats.org/officeDocument/2006/relationships/slide" Target="/ppt/slides/slide7.xml" Id="R16eec0107570410c" /><Relationship Type="http://schemas.openxmlformats.org/officeDocument/2006/relationships/slide" Target="/ppt/slides/slide8.xml" Id="R77a77d7ad9d9402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d4fa8983623465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539e5d05e874be4" /><Relationship Type="http://schemas.openxmlformats.org/officeDocument/2006/relationships/notesMaster" Target="/ppt/notesMasters/notesMaster1.xml" Id="Re78693ca7337411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9057c041e99456f" /><Relationship Type="http://schemas.openxmlformats.org/officeDocument/2006/relationships/notesMaster" Target="/ppt/notesMasters/notesMaster1.xml" Id="R0e694fae6ba24da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26e78f48a9741b8" /><Relationship Type="http://schemas.openxmlformats.org/officeDocument/2006/relationships/notesMaster" Target="/ppt/notesMasters/notesMaster1.xml" Id="Ra904c5e33d3440b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1468b0fa9564c07" /><Relationship Type="http://schemas.openxmlformats.org/officeDocument/2006/relationships/notesMaster" Target="/ppt/notesMasters/notesMaster1.xml" Id="R82ed003d6ab44ca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fb609a766ce44da" /><Relationship Type="http://schemas.openxmlformats.org/officeDocument/2006/relationships/notesMaster" Target="/ppt/notesMasters/notesMaster1.xml" Id="Rc6cf4824846744f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794945d1d8b4cd6" /><Relationship Type="http://schemas.openxmlformats.org/officeDocument/2006/relationships/notesMaster" Target="/ppt/notesMasters/notesMaster1.xml" Id="Rb064ece020d4435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820128eeef44856" /><Relationship Type="http://schemas.openxmlformats.org/officeDocument/2006/relationships/notesMaster" Target="/ppt/notesMasters/notesMaster1.xml" Id="Racbc695634494fc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705d3c8fc2645e9" /><Relationship Type="http://schemas.openxmlformats.org/officeDocument/2006/relationships/notesMaster" Target="/ppt/notesMasters/notesMaster1.xml" Id="R3207c432c7a044d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01a856ac8f4c1a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b6d49f4818ec45f1" /><Relationship Type="http://schemas.openxmlformats.org/officeDocument/2006/relationships/slideLayout" Target="/ppt/slideLayouts/slideLayout2.xml" Id="R299fb1c8c5f447c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99fb1c8c5f447c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65d0628e4ca44da" /><Relationship Type="http://schemas.openxmlformats.org/officeDocument/2006/relationships/notesSlide" Target="/ppt/notesSlides/notesSlide1.xml" Id="R339afb0906454c8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824b21662da4726" /><Relationship Type="http://schemas.openxmlformats.org/officeDocument/2006/relationships/notesSlide" Target="/ppt/notesSlides/notesSlide2.xml" Id="Re39c322ac2234fe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72906e750394e3c" /><Relationship Type="http://schemas.openxmlformats.org/officeDocument/2006/relationships/notesSlide" Target="/ppt/notesSlides/notesSlide3.xml" Id="R73029231ebd3411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61386d317904a2e" /><Relationship Type="http://schemas.openxmlformats.org/officeDocument/2006/relationships/notesSlide" Target="/ppt/notesSlides/notesSlide4.xml" Id="R12def36d8ccc42a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8cc96cdd5af4026" /><Relationship Type="http://schemas.openxmlformats.org/officeDocument/2006/relationships/notesSlide" Target="/ppt/notesSlides/notesSlide5.xml" Id="R9bca0e697a38476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0bcf8a4eb8747c4" /><Relationship Type="http://schemas.openxmlformats.org/officeDocument/2006/relationships/image" Target="/ppt/media/image.jpeg" Id="Rbc455185d65e4710" /><Relationship Type="http://schemas.openxmlformats.org/officeDocument/2006/relationships/notesSlide" Target="/ppt/notesSlides/notesSlide6.xml" Id="R6c171417b0fb41a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4ff1a0df2604d02" /><Relationship Type="http://schemas.openxmlformats.org/officeDocument/2006/relationships/notesSlide" Target="/ppt/notesSlides/notesSlide7.xml" Id="R54cd25f08e43416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c133784642140be" /><Relationship Type="http://schemas.openxmlformats.org/officeDocument/2006/relationships/notesSlide" Target="/ppt/notesSlides/notesSlide8.xml" Id="Ra964b07913b244d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39A4A5-F73C-4A4A-AC16-3C4F3ED96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7E8E25-E020-4318-95E6-CA9472D34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B"/>
          </a:solidFill>
          <a:ln xmlns:a="http://schemas.openxmlformats.org/drawingml/2006/main" w="9525">
            <a:solidFill>
              <a:srgbClr val="173A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5D523F-8108-4D16-9F2D-F14D183DF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2857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D9E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8D9E5"/>
                </a:solidFill>
                <a:latin typeface="Aptos"/>
                <a:ea typeface="Aptos"/>
                <a:cs typeface="Aptos"/>
              </a:rPr>
              <a:t>ATIVIDADE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674135-820C-4206-A66D-F7853DB0E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39052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Sistema de</a:t>
            </a:r>
          </a:p>
          <a:p xmlns:a="http://schemas.openxmlformats.org/drawingml/2006/main">
            <a:pPr algn="l">
              <a:buNone/>
              <a:defRPr sz="3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Entrada e Saída</a:t>
            </a:r>
          </a:p>
          <a:p xmlns:a="http://schemas.openxmlformats.org/drawingml/2006/main">
            <a:pPr algn="l">
              <a:buNone/>
              <a:defRPr sz="3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 Veículos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CADD59-0C63-47D1-9BA5-FECDD60B9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30480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47625">
            <a:solidFill>
              <a:srgbClr val="D99B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525D39-CF1E-44FC-87E2-5F8BB1BE2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3714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DDE8F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DDE8F1"/>
                </a:solidFill>
                <a:latin typeface="Aptos"/>
                <a:ea typeface="Aptos"/>
                <a:cs typeface="Aptos"/>
              </a:rPr>
              <a:t>MVP funcional para controle de acesso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5593E5-463C-4445-920E-12EC3C4DB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876300"/>
            <a:ext cx="523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4557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557F"/>
                </a:solidFill>
                <a:latin typeface="Aptos"/>
                <a:ea typeface="Aptos"/>
                <a:cs typeface="Aptos"/>
              </a:rPr>
              <a:t>Da modelagem ao protótipo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AC0F64-D7F3-433E-91B5-9E93208DA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666875"/>
            <a:ext cx="523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A5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73A5B"/>
                </a:solidFill>
                <a:latin typeface="Aptos"/>
                <a:ea typeface="Aptos"/>
                <a:cs typeface="Aptos"/>
              </a:rPr>
              <a:t>Rafael Dreyer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1C3C4B-5027-43A6-A163-0BF316267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324100"/>
            <a:ext cx="523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0748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07487"/>
                </a:solidFill>
                <a:latin typeface="Aptos"/>
                <a:ea typeface="Aptos"/>
                <a:cs typeface="Aptos"/>
              </a:rPr>
              <a:t>Práticas Extensionistas III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233392-3034-4C52-9B6C-621452E2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743200"/>
            <a:ext cx="523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0748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07487"/>
                </a:solidFill>
                <a:latin typeface="Aptos"/>
                <a:ea typeface="Aptos"/>
                <a:cs typeface="Aptos"/>
              </a:rPr>
              <a:t>Análise e Desenvolvimento de Sistemas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5BD507-8A49-4106-A9F3-6B00868FF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162300"/>
            <a:ext cx="523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0748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07487"/>
                </a:solidFill>
                <a:latin typeface="Aptos"/>
                <a:ea typeface="Aptos"/>
                <a:cs typeface="Aptos"/>
              </a:rPr>
              <a:t>UNOESC • Maravilha - SC • 2026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7BF15F-97EB-45CD-A17D-899EEE380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095750"/>
            <a:ext cx="4857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EAF2F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9A1671-CE63-4C3F-B1C5-73C6ADA91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324350"/>
            <a:ext cx="428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4557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4557F"/>
                </a:solidFill>
                <a:latin typeface="Aptos"/>
                <a:ea typeface="Aptos"/>
                <a:cs typeface="Aptos"/>
              </a:rPr>
              <a:t>Objetivo da apresentação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EC97AB-72B3-467E-B5D1-D27587AE2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667250"/>
            <a:ext cx="4286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A5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3A5B"/>
                </a:solidFill>
                <a:latin typeface="Aptos"/>
                <a:ea typeface="Aptos"/>
                <a:cs typeface="Aptos"/>
              </a:rPr>
              <a:t>Mostrar o problema, a solução e o MVP em funcionamento.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2F26CA-CC59-45AC-BF91-3F6BA32A9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5AB51E-E8A8-484F-8332-581E75DA5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0748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07487"/>
                </a:solidFill>
                <a:latin typeface="Aptos"/>
                <a:ea typeface="Aptos"/>
                <a:cs typeface="Aptos"/>
              </a:rPr>
              <a:t>PRÁTICAS EXTENSIONISTAS III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19D38A-22F5-4288-98B0-96E66B694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60748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07487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2594194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05F968-24F3-4889-B4D8-5F78D585E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12B14C1-67D6-45F7-AC9B-C9E66C46C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76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57F"/>
          </a:solidFill>
          <a:ln xmlns:a="http://schemas.openxmlformats.org/drawingml/2006/main" w="9525">
            <a:solidFill>
              <a:srgbClr val="24557F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1BA14C7-CE0D-4732-92ED-285BB0849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3850"/>
            <a:ext cx="3333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4557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4557F"/>
                </a:solidFill>
                <a:latin typeface="Aptos"/>
                <a:ea typeface="Aptos"/>
                <a:cs typeface="Aptos"/>
              </a:rPr>
              <a:t>PROBLEMA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BFD975-C39A-4376-B570-CC224D3B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73A5B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A5B"/>
                </a:solidFill>
                <a:latin typeface="Aptos"/>
                <a:ea typeface="Aptos"/>
                <a:cs typeface="Aptos"/>
              </a:rPr>
              <a:t>Registros fragmentados escondem quem ainda está no local.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B2A7D0-05BE-45D4-B2BA-738B96A2E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4667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F15099-B68E-44F0-B573-EF616E541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622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0748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07487"/>
                </a:solidFill>
                <a:latin typeface="Aptos"/>
                <a:ea typeface="Aptos"/>
                <a:cs typeface="Aptos"/>
              </a:rPr>
              <a:t>ANTES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54748D-477E-4B96-ADAA-03807A5DC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3714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3A5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A5B"/>
                </a:solidFill>
                <a:latin typeface="Aptos"/>
                <a:ea typeface="Aptos"/>
                <a:cs typeface="Aptos"/>
              </a:rPr>
              <a:t>Papel e planilhas separadas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6D950C-7E3B-4AFC-A41D-036943605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48050"/>
            <a:ext cx="37147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D8E0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7DBEDD-4BE7-402B-9D69-D2A8BACDD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29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57F"/>
          </a:solidFill>
          <a:ln xmlns:a="http://schemas.openxmlformats.org/drawingml/2006/main" w="9525">
            <a:solidFill>
              <a:srgbClr val="24557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B30CAE-DF52-47D7-A810-9A102AA1B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33800"/>
            <a:ext cx="3486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73A5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3A5B"/>
                </a:solidFill>
                <a:latin typeface="Aptos"/>
                <a:ea typeface="Aptos"/>
                <a:cs typeface="Aptos"/>
              </a:rPr>
              <a:t>Horários difíceis de conferir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DB7611-F7D8-47C0-8E8C-FB8188C8B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005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57F"/>
          </a:solidFill>
          <a:ln xmlns:a="http://schemas.openxmlformats.org/drawingml/2006/main" w="9525">
            <a:solidFill>
              <a:srgbClr val="24557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A73050-7546-403F-9FFF-88DA671EE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05300"/>
            <a:ext cx="3486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73A5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3A5B"/>
                </a:solidFill>
                <a:latin typeface="Aptos"/>
                <a:ea typeface="Aptos"/>
                <a:cs typeface="Aptos"/>
              </a:rPr>
              <a:t>Placas e responsáveis dispersos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9CF59C-28BE-47CB-B1C3-AB00713E5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72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57F"/>
          </a:solidFill>
          <a:ln xmlns:a="http://schemas.openxmlformats.org/drawingml/2006/main" w="9525">
            <a:solidFill>
              <a:srgbClr val="24557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06C5B2-07AA-4930-8506-2EC1E43CC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76800"/>
            <a:ext cx="3486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73A5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3A5B"/>
                </a:solidFill>
                <a:latin typeface="Aptos"/>
                <a:ea typeface="Aptos"/>
                <a:cs typeface="Aptos"/>
              </a:rPr>
              <a:t>Sem visão imediata das vagas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D9708E-BA37-440E-89D3-6251029F6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95500"/>
            <a:ext cx="57721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B"/>
          </a:solidFill>
          <a:ln xmlns:a="http://schemas.openxmlformats.org/drawingml/2006/main" w="9525">
            <a:solidFill>
              <a:srgbClr val="173A5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22723F-519D-4241-AC69-991600FE9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622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BCD0D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CD0DE"/>
                </a:solidFill>
                <a:latin typeface="Aptos"/>
                <a:ea typeface="Aptos"/>
                <a:cs typeface="Aptos"/>
              </a:rPr>
              <a:t>EFEITO OPERACIONAL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96FE7E-D2BD-44DB-9965-10FE87B99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09875"/>
            <a:ext cx="4762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 equipe perde tempo para responder perguntas simples.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7635D4-8FC9-4161-BBE4-14CE9A8EF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019550"/>
            <a:ext cx="4572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DDE8F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DDE8F1"/>
                </a:solidFill>
                <a:latin typeface="Aptos"/>
                <a:ea typeface="Aptos"/>
                <a:cs typeface="Aptos"/>
              </a:rPr>
              <a:t>Quem entrou?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DDE8F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DDE8F1"/>
                </a:solidFill>
                <a:latin typeface="Aptos"/>
                <a:ea typeface="Aptos"/>
                <a:cs typeface="Aptos"/>
              </a:rPr>
              <a:t>Qual vaga está ocupada?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DDE8F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DDE8F1"/>
                </a:solidFill>
                <a:latin typeface="Aptos"/>
                <a:ea typeface="Aptos"/>
                <a:cs typeface="Aptos"/>
              </a:rPr>
              <a:t>O veículo já saiu?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3C5B42-0835-4364-B11D-3B87EBC7B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4298AD-6AC9-4ACC-A44C-B5F2871B5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0748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07487"/>
                </a:solidFill>
                <a:latin typeface="Aptos"/>
                <a:ea typeface="Aptos"/>
                <a:cs typeface="Aptos"/>
              </a:rPr>
              <a:t>PRÁTICAS EXTENSIONISTAS III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558EC8-DA3D-420C-9087-C19B9EF9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60748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07487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5641071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43B3C7-3EF2-41E7-A045-418B32A7C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F2556B0-A276-4188-BDCF-C83CA6CF6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76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57F"/>
          </a:solidFill>
          <a:ln xmlns:a="http://schemas.openxmlformats.org/drawingml/2006/main" w="9525">
            <a:solidFill>
              <a:srgbClr val="24557F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5BCE486-052C-42F4-88C9-A7B8FDC8F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3850"/>
            <a:ext cx="3333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4557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4557F"/>
                </a:solidFill>
                <a:latin typeface="Aptos"/>
                <a:ea typeface="Aptos"/>
                <a:cs typeface="Aptos"/>
              </a:rPr>
              <a:t>SOLUÇÃO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13428D-F6AC-43E5-9610-74E9B093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73A5B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A5B"/>
                </a:solidFill>
                <a:latin typeface="Aptos"/>
                <a:ea typeface="Aptos"/>
                <a:cs typeface="Aptos"/>
              </a:rPr>
              <a:t>Um único fluxo conecta cadastro, movimentação e consulta.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018D29-5A3C-490A-BA2F-187F2C0C9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21907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EC6668-11FA-4135-9D3C-55021EAD2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476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4557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24557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29ECAF-CD77-4A8B-AA2C-CAC4AE8C9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432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3A5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A5B"/>
                </a:solidFill>
                <a:latin typeface="Aptos"/>
                <a:ea typeface="Aptos"/>
                <a:cs typeface="Aptos"/>
              </a:rPr>
              <a:t>Identificar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FDE30F-4AE9-4C4A-A48E-96AF492B6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43300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748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487"/>
                </a:solidFill>
                <a:latin typeface="Aptos"/>
                <a:ea typeface="Aptos"/>
                <a:cs typeface="Aptos"/>
              </a:rPr>
              <a:t>veículo e condutor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68482F-3CB9-4393-BB4E-8AA3223B1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52800"/>
            <a:ext cx="523875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8100">
            <a:solidFill>
              <a:srgbClr val="D99B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1A6A36-154E-4B5A-B077-250705F7C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81250"/>
            <a:ext cx="21907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003A19-7FD4-4C17-A84A-BA9ACF4EA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571750"/>
            <a:ext cx="476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4557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24557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2F9A99-1B14-4839-B1C2-D38D4F2C7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1432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3A5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A5B"/>
                </a:solidFill>
                <a:latin typeface="Aptos"/>
                <a:ea typeface="Aptos"/>
                <a:cs typeface="Aptos"/>
              </a:rPr>
              <a:t>Registrar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9EEE31-7C26-47F8-8DA1-40909B5FC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543300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748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487"/>
                </a:solidFill>
                <a:latin typeface="Aptos"/>
                <a:ea typeface="Aptos"/>
                <a:cs typeface="Aptos"/>
              </a:rPr>
              <a:t>entrada e vaga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01057B-2815-4065-8724-FEB48FBE3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352800"/>
            <a:ext cx="523875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8100">
            <a:solidFill>
              <a:srgbClr val="D99B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962A5D-1B02-40F8-8C2F-B88D0D8B5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0"/>
            <a:ext cx="21907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5C738E-A388-4CFE-B215-5B76E5294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71750"/>
            <a:ext cx="476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4557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24557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6E55FE-5998-4663-A455-4BC2D5204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432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3A5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A5B"/>
                </a:solidFill>
                <a:latin typeface="Aptos"/>
                <a:ea typeface="Aptos"/>
                <a:cs typeface="Aptos"/>
              </a:rPr>
              <a:t>Finalizar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EDB520-9AB5-4A7A-90A9-EA7282A9D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43300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748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487"/>
                </a:solidFill>
                <a:latin typeface="Aptos"/>
                <a:ea typeface="Aptos"/>
                <a:cs typeface="Aptos"/>
              </a:rPr>
              <a:t>saída e liberar vaga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5AE4AC-E92A-46AB-A43C-D7DFE1269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52800"/>
            <a:ext cx="523875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8100">
            <a:solidFill>
              <a:srgbClr val="D99B3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E5BB2E-826F-44A8-9068-69FC682F4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381250"/>
            <a:ext cx="21907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14BA71-0860-4C0C-84E9-ED6388A3C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571750"/>
            <a:ext cx="476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4557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24557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CACE82-C8F6-4663-ABB5-237820511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1432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3A5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A5B"/>
                </a:solidFill>
                <a:latin typeface="Aptos"/>
                <a:ea typeface="Aptos"/>
                <a:cs typeface="Aptos"/>
              </a:rPr>
              <a:t>Consultar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FFE767-3C17-4C97-BAFE-E4C6DB486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543300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748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487"/>
                </a:solidFill>
                <a:latin typeface="Aptos"/>
                <a:ea typeface="Aptos"/>
                <a:cs typeface="Aptos"/>
              </a:rPr>
              <a:t>histórico e presentes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BDA448-839B-4EED-87DE-FFA9C7E6E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10334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ED"/>
          </a:solidFill>
          <a:ln xmlns:a="http://schemas.openxmlformats.org/drawingml/2006/main" w="9525">
            <a:solidFill>
              <a:srgbClr val="E7F3E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6C8A3F-53AE-4968-84B5-3D445BB84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720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37A5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37A57"/>
                </a:solidFill>
                <a:latin typeface="Aptos"/>
                <a:ea typeface="Aptos"/>
                <a:cs typeface="Aptos"/>
              </a:rPr>
              <a:t>Resultado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C132A5-61F4-4225-B371-D08553220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95850"/>
            <a:ext cx="819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3A5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3A5B"/>
                </a:solidFill>
                <a:latin typeface="Aptos"/>
                <a:ea typeface="Aptos"/>
                <a:cs typeface="Aptos"/>
              </a:rPr>
              <a:t>A mesma base informa veículos presentes, vagas ocupadas e histórico.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3E9396-BDE5-42FD-9138-D4BC8B36A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E7C694-BF15-48CB-BC6C-212A87E5F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0748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07487"/>
                </a:solidFill>
                <a:latin typeface="Aptos"/>
                <a:ea typeface="Aptos"/>
                <a:cs typeface="Aptos"/>
              </a:rPr>
              <a:t>PRÁTICAS EXTENSIONISTAS III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363BF4-7F60-42DA-8B3B-C2AACBEF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60748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07487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6943491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168D48-DB13-4B7F-9755-B30445CFF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5831B1F-6E04-413A-A167-C11F1FB14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76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57F"/>
          </a:solidFill>
          <a:ln xmlns:a="http://schemas.openxmlformats.org/drawingml/2006/main" w="9525">
            <a:solidFill>
              <a:srgbClr val="24557F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DF7CA31-2FF5-4404-8085-82A963EA3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3850"/>
            <a:ext cx="3333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4557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4557F"/>
                </a:solidFill>
                <a:latin typeface="Aptos"/>
                <a:ea typeface="Aptos"/>
                <a:cs typeface="Aptos"/>
              </a:rPr>
              <a:t>BANCO DE DADOS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68C210-3B7D-4E35-8A92-CD39AACA3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73A5B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73A5B"/>
                </a:solidFill>
                <a:latin typeface="Aptos"/>
                <a:ea typeface="Aptos"/>
                <a:cs typeface="Aptos"/>
              </a:rPr>
              <a:t>Seis tabelas sustentam o fluxo sem duplicar informações.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69D1B4-7BDD-4AF8-90C7-873F25C09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2095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557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108EEF-7BDD-4FAD-AF3E-5ED19474B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57F"/>
          </a:solidFill>
          <a:ln xmlns:a="http://schemas.openxmlformats.org/drawingml/2006/main" w="9525">
            <a:solidFill>
              <a:srgbClr val="24557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F7CCC2-C1A5-49F7-8154-8BCC6D209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62175"/>
            <a:ext cx="1866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USUARIOS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58F132-3C1B-4828-9191-CFD371D29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52700"/>
            <a:ext cx="18669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3A5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A5B"/>
                </a:solidFill>
                <a:latin typeface="Aptos"/>
                <a:ea typeface="Aptos"/>
                <a:cs typeface="Aptos"/>
              </a:rPr>
              <a:t>PK id_usuario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173A5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A5B"/>
                </a:solidFill>
                <a:latin typeface="Aptos"/>
                <a:ea typeface="Aptos"/>
                <a:cs typeface="Aptos"/>
              </a:rPr>
              <a:t>nome • email • senha_hash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F52336-0AED-4CD3-BB19-0C806C739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2095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557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974162-AAAD-4BA5-B90E-CEC79DBA6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57F"/>
          </a:solidFill>
          <a:ln xmlns:a="http://schemas.openxmlformats.org/drawingml/2006/main" w="9525">
            <a:solidFill>
              <a:srgbClr val="24557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194422-98D3-4BD1-B969-9CB355DCF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62425"/>
            <a:ext cx="1866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CONDUTORES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EF8B37-1C44-4C8F-A973-6B3989B3D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52950"/>
            <a:ext cx="1866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3A5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A5B"/>
                </a:solidFill>
                <a:latin typeface="Aptos"/>
                <a:ea typeface="Aptos"/>
                <a:cs typeface="Aptos"/>
              </a:rPr>
              <a:t>PK id_condutor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173A5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A5B"/>
                </a:solidFill>
                <a:latin typeface="Aptos"/>
                <a:ea typeface="Aptos"/>
                <a:cs typeface="Aptos"/>
              </a:rPr>
              <a:t>nome • cpf • tipo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86B5F3-6516-4A73-BE9F-EB6A52794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95625"/>
            <a:ext cx="21907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557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1B350C-75F6-4463-8F48-B74D38D9E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95625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57F"/>
          </a:solidFill>
          <a:ln xmlns:a="http://schemas.openxmlformats.org/drawingml/2006/main" w="9525">
            <a:solidFill>
              <a:srgbClr val="24557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B53687-441B-46D3-8893-2515BFC9C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162300"/>
            <a:ext cx="1962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VEICULOS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0CE559-D656-4256-AC28-4AB6722C0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552825"/>
            <a:ext cx="196215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3A5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A5B"/>
                </a:solidFill>
                <a:latin typeface="Aptos"/>
                <a:ea typeface="Aptos"/>
                <a:cs typeface="Aptos"/>
              </a:rPr>
              <a:t>PK id_veiculo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173A5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A5B"/>
                </a:solidFill>
                <a:latin typeface="Aptos"/>
                <a:ea typeface="Aptos"/>
                <a:cs typeface="Aptos"/>
              </a:rPr>
              <a:t>FK id_condutor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173A5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A5B"/>
                </a:solidFill>
                <a:latin typeface="Aptos"/>
                <a:ea typeface="Aptos"/>
                <a:cs typeface="Aptos"/>
              </a:rPr>
              <a:t>placa • modelo • status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DFDC95-0D00-43EC-B008-3B1796C87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0025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557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BA79ED-E317-4ED2-937E-4122A129D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0025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57F"/>
          </a:solidFill>
          <a:ln xmlns:a="http://schemas.openxmlformats.org/drawingml/2006/main" w="9525">
            <a:solidFill>
              <a:srgbClr val="24557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6552A7-2896-4638-833A-2F737E04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066925"/>
            <a:ext cx="2152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MOVIMENTACOES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D659C4-D1E3-43BA-B09D-55B5FDFD9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457450"/>
            <a:ext cx="21526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3A5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A5B"/>
                </a:solidFill>
                <a:latin typeface="Aptos"/>
                <a:ea typeface="Aptos"/>
                <a:cs typeface="Aptos"/>
              </a:rPr>
              <a:t>PK id_movimentacao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173A5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A5B"/>
                </a:solidFill>
                <a:latin typeface="Aptos"/>
                <a:ea typeface="Aptos"/>
                <a:cs typeface="Aptos"/>
              </a:rPr>
              <a:t>FK veículo • condutor • vaga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173A5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A5B"/>
                </a:solidFill>
                <a:latin typeface="Aptos"/>
                <a:ea typeface="Aptos"/>
                <a:cs typeface="Aptos"/>
              </a:rPr>
              <a:t>entrada • saída • status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927FC9-A977-433A-8FA2-D3EAF4EAC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33875"/>
            <a:ext cx="2095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557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A7E1B6-3E15-4C7B-BA85-E678B96E2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33875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57F"/>
          </a:solidFill>
          <a:ln xmlns:a="http://schemas.openxmlformats.org/drawingml/2006/main" w="9525">
            <a:solidFill>
              <a:srgbClr val="24557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C00C8E-589F-4035-96CF-36CF2EC08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400550"/>
            <a:ext cx="1866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VAGAS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272D07-EFD5-4838-84D7-F3DAAFB9E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791075"/>
            <a:ext cx="1866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3A5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A5B"/>
                </a:solidFill>
                <a:latin typeface="Aptos"/>
                <a:ea typeface="Aptos"/>
                <a:cs typeface="Aptos"/>
              </a:rPr>
              <a:t>PK id_vaga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173A5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A5B"/>
                </a:solidFill>
                <a:latin typeface="Aptos"/>
                <a:ea typeface="Aptos"/>
                <a:cs typeface="Aptos"/>
              </a:rPr>
              <a:t>código • setor • status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1C215F-B1D3-4409-9DD9-E7434FCA5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95750"/>
            <a:ext cx="1905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557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6A4B66-3987-4D83-BA59-7E2DE20BF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95750"/>
            <a:ext cx="190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57F"/>
          </a:solidFill>
          <a:ln xmlns:a="http://schemas.openxmlformats.org/drawingml/2006/main" w="9525">
            <a:solidFill>
              <a:srgbClr val="24557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421DF0-8735-4AFD-B010-0021EED26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162425"/>
            <a:ext cx="1676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CONTATOS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35DF45-F461-4083-B9FB-F50BF0A38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552950"/>
            <a:ext cx="1676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3A5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A5B"/>
                </a:solidFill>
                <a:latin typeface="Aptos"/>
                <a:ea typeface="Aptos"/>
                <a:cs typeface="Aptos"/>
              </a:rPr>
              <a:t>PK id_contato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173A5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A5B"/>
                </a:solidFill>
                <a:latin typeface="Aptos"/>
                <a:ea typeface="Aptos"/>
                <a:cs typeface="Aptos"/>
              </a:rPr>
              <a:t>nome • assunto • mensagem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43CE6B-5A84-4EEE-AF6E-E28A1A97A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572000"/>
            <a:ext cx="952500" cy="-8572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60748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58DB66-793B-48AA-B886-A71F2ABC0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857625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0748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07487"/>
                </a:solidFill>
                <a:latin typeface="Aptos"/>
                <a:ea typeface="Aptos"/>
                <a:cs typeface="Aptos"/>
              </a:rPr>
              <a:t>1 possui 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BBD1E1-7F66-4E15-96EB-F8CA3A0EC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619500"/>
            <a:ext cx="762000" cy="-8096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60748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F975FA-039B-4D09-AFC5-80E9840E8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609850"/>
            <a:ext cx="7143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0748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07487"/>
                </a:solidFill>
                <a:latin typeface="Aptos"/>
                <a:ea typeface="Aptos"/>
                <a:cs typeface="Aptos"/>
              </a:rPr>
              <a:t>1 gera 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87DA917-1C22-4127-829D-753DE6D85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429000"/>
            <a:ext cx="0" cy="90487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60748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D9D514A-3DAD-492B-A766-46DFD4771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771900"/>
            <a:ext cx="619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0748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07487"/>
                </a:solidFill>
                <a:latin typeface="Aptos"/>
                <a:ea typeface="Aptos"/>
                <a:cs typeface="Aptos"/>
              </a:rPr>
              <a:t>N usa 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3EC616-5A12-462D-83DC-0E3418E74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571750"/>
            <a:ext cx="3905250" cy="-952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60748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C5667F2-0AE0-4F05-927A-3C4A3C29F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6695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0748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07487"/>
                </a:solidFill>
                <a:latin typeface="Aptos"/>
                <a:ea typeface="Aptos"/>
                <a:cs typeface="Aptos"/>
              </a:rPr>
              <a:t>registra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D067CF0-3DBF-4099-BB08-22F074EF6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95500"/>
            <a:ext cx="1905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ED"/>
          </a:solidFill>
          <a:ln xmlns:a="http://schemas.openxmlformats.org/drawingml/2006/main" w="9525">
            <a:solidFill>
              <a:srgbClr val="E7F3E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D94B213-7F34-4172-AAE6-F50CC8AE5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3050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37A5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37A57"/>
                </a:solidFill>
                <a:latin typeface="Aptos"/>
                <a:ea typeface="Aptos"/>
                <a:cs typeface="Aptos"/>
              </a:rPr>
              <a:t>REGRA CENTRAL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12A8222-8180-49C6-8D85-728FFA8FD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619375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3A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3A5B"/>
                </a:solidFill>
                <a:latin typeface="Aptos"/>
                <a:ea typeface="Aptos"/>
                <a:cs typeface="Aptos"/>
              </a:rPr>
              <a:t>Uma entrada fica aberta até receber data e usuário de saída.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4A5704B-4146-4902-9674-A1F4D0288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78AA77A-A3C6-4589-8F8C-3084A9475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0748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07487"/>
                </a:solidFill>
                <a:latin typeface="Aptos"/>
                <a:ea typeface="Aptos"/>
                <a:cs typeface="Aptos"/>
              </a:rPr>
              <a:t>PRÁTICAS EXTENSIONISTAS III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8488BA9-55D6-440B-A351-C529DC938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60748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07487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4432500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E253CB-0C74-40FB-86E2-6A3744DF5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3AFDE3C-73A4-493D-840B-AC70259AC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76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57F"/>
          </a:solidFill>
          <a:ln xmlns:a="http://schemas.openxmlformats.org/drawingml/2006/main" w="9525">
            <a:solidFill>
              <a:srgbClr val="24557F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AF14976-8707-492E-9738-E774090ED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3850"/>
            <a:ext cx="3333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4557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4557F"/>
                </a:solidFill>
                <a:latin typeface="Aptos"/>
                <a:ea typeface="Aptos"/>
                <a:cs typeface="Aptos"/>
              </a:rPr>
              <a:t>CASOS DE USO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CF5EF4-3CCF-47EF-8F5B-4ED1A5160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73A5B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73A5B"/>
                </a:solidFill>
                <a:latin typeface="Aptos"/>
                <a:ea typeface="Aptos"/>
                <a:cs typeface="Aptos"/>
              </a:rPr>
              <a:t>Administrador e porteiro compartilham o fluxo operacional.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2EDBE1-0A19-4591-9F2E-04714268A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2095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57F"/>
          </a:solidFill>
          <a:ln xmlns:a="http://schemas.openxmlformats.org/drawingml/2006/main" w="9525">
            <a:solidFill>
              <a:srgbClr val="24557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8FE8E0-6A26-4C98-A183-3F9E8212E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ADMINISTRADOR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8EDB6F-3995-42D6-BBF5-F797B8A53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765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DDE8F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DE8F1"/>
                </a:solidFill>
                <a:latin typeface="Aptos"/>
                <a:ea typeface="Aptos"/>
                <a:cs typeface="Aptos"/>
              </a:rPr>
              <a:t>cadastros + operação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24CC53-015F-4B03-AA60-49FDCFC0D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2095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A57"/>
          </a:solidFill>
          <a:ln xmlns:a="http://schemas.openxmlformats.org/drawingml/2006/main" w="9525">
            <a:solidFill>
              <a:srgbClr val="237A5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A6645F-2747-4ED2-A598-B47C1D560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76750"/>
            <a:ext cx="1828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OPERADOR / PORTEIRO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2F4857-2F5E-498B-9D71-A0AF08045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768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E1F1E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1F1E9"/>
                </a:solidFill>
                <a:latin typeface="Aptos"/>
                <a:ea typeface="Aptos"/>
                <a:cs typeface="Aptos"/>
              </a:rPr>
              <a:t>operação diária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FCBC66-3A90-4B9A-AC03-06A3B3CEB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809875"/>
            <a:ext cx="9525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4557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5018FC-3755-4394-89E4-A991E70B2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810125"/>
            <a:ext cx="9525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37A5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C644A3-2457-44F3-B938-E36C52C77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952625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0748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07487"/>
                </a:solidFill>
                <a:latin typeface="Aptos"/>
                <a:ea typeface="Aptos"/>
                <a:cs typeface="Aptos"/>
              </a:rPr>
              <a:t>AÇÕES COMPARTILHADAS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7B2750-701C-4B80-8BD1-30FD8C3AD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33625"/>
            <a:ext cx="21431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557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BB1902-04CE-436D-8AC5-96CB57D4D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476500"/>
            <a:ext cx="19145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A5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3A5B"/>
                </a:solidFill>
                <a:latin typeface="Aptos"/>
                <a:ea typeface="Aptos"/>
                <a:cs typeface="Aptos"/>
              </a:rPr>
              <a:t>Realizar login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CBC9E5-743E-4F42-9D5F-F31E00820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33625"/>
            <a:ext cx="21431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557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A39CD2-AB17-4488-AE3B-F41E7D4CD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76500"/>
            <a:ext cx="19145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A5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3A5B"/>
                </a:solidFill>
                <a:latin typeface="Aptos"/>
                <a:ea typeface="Aptos"/>
                <a:cs typeface="Aptos"/>
              </a:rPr>
              <a:t>Visualizar painel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B28B7E-8277-40AC-A9B2-97D904615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33625"/>
            <a:ext cx="21431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557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124143-E3D5-4469-B3A7-B16F01D2C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476500"/>
            <a:ext cx="19145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A5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3A5B"/>
                </a:solidFill>
                <a:latin typeface="Aptos"/>
                <a:ea typeface="Aptos"/>
                <a:cs typeface="Aptos"/>
              </a:rPr>
              <a:t>Registrar entrada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3A5618-57DD-42B9-BDFA-002F4DEF6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90875"/>
            <a:ext cx="21431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557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522DE6-93FF-49CD-A2B2-28778FA79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333750"/>
            <a:ext cx="19145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A5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3A5B"/>
                </a:solidFill>
                <a:latin typeface="Aptos"/>
                <a:ea typeface="Aptos"/>
                <a:cs typeface="Aptos"/>
              </a:rPr>
              <a:t>Registrar saída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95B859-FA12-499A-A79E-FD44C5D44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90875"/>
            <a:ext cx="21431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557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0EA30A-B554-42BE-B4C4-D38AB5F88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33750"/>
            <a:ext cx="19145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A5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3A5B"/>
                </a:solidFill>
                <a:latin typeface="Aptos"/>
                <a:ea typeface="Aptos"/>
                <a:cs typeface="Aptos"/>
              </a:rPr>
              <a:t>Consultar movimentações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48F75F-355C-47C1-B831-C75C91EC5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90875"/>
            <a:ext cx="21431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557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10081F-399D-426E-8AB9-F68B9FA83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333750"/>
            <a:ext cx="19145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A5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3A5B"/>
                </a:solidFill>
                <a:latin typeface="Aptos"/>
                <a:ea typeface="Aptos"/>
                <a:cs typeface="Aptos"/>
              </a:rPr>
              <a:t>Enviar contato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6A21D3-CB37-45A6-B638-629699ED3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33875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0748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07487"/>
                </a:solidFill>
                <a:latin typeface="Aptos"/>
                <a:ea typeface="Aptos"/>
                <a:cs typeface="Aptos"/>
              </a:rPr>
              <a:t>SOMENTE ADMINISTRADOR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5C377E-B638-4186-ADFB-9EF334655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714875"/>
            <a:ext cx="21431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2D6A12-C388-47C1-81B5-39B59335B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857750"/>
            <a:ext cx="19145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A5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3A5B"/>
                </a:solidFill>
                <a:latin typeface="Aptos"/>
                <a:ea typeface="Aptos"/>
                <a:cs typeface="Aptos"/>
              </a:rPr>
              <a:t>Gerenciar veículos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F2F4C5-DD64-4CE7-89BE-8690957C8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14875"/>
            <a:ext cx="21431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A799B4-0A5C-4713-B252-5D605F962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857750"/>
            <a:ext cx="19145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A5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3A5B"/>
                </a:solidFill>
                <a:latin typeface="Aptos"/>
                <a:ea typeface="Aptos"/>
                <a:cs typeface="Aptos"/>
              </a:rPr>
              <a:t>Cadastrar condutores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1D625A-AC27-469B-B8B0-C44773FED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14875"/>
            <a:ext cx="21431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EF95A07-CF31-4A75-BB3A-C8AC0DF88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857750"/>
            <a:ext cx="19145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A5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3A5B"/>
                </a:solidFill>
                <a:latin typeface="Aptos"/>
                <a:ea typeface="Aptos"/>
                <a:cs typeface="Aptos"/>
              </a:rPr>
              <a:t>Cadastrar vagas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0E31783-64F9-4B3E-ACA2-7913CE09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09875"/>
            <a:ext cx="0" cy="22860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D8E0E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16CBA27-2F9D-41E5-9308-02C9BBC73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619750"/>
            <a:ext cx="7096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0748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07487"/>
                </a:solidFill>
                <a:latin typeface="Aptos"/>
                <a:ea typeface="Aptos"/>
                <a:cs typeface="Aptos"/>
              </a:rPr>
              <a:t>O CRUD de veículos inclui cadastrar, listar, visualizar, editar e excluir.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622AC11-31F1-4ED3-8D0C-80B0E64C7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05DFFDA-9E11-45C6-A47E-AB9962012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0748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07487"/>
                </a:solidFill>
                <a:latin typeface="Aptos"/>
                <a:ea typeface="Aptos"/>
                <a:cs typeface="Aptos"/>
              </a:rPr>
              <a:t>PRÁTICAS EXTENSIONISTAS III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E7DC9BA-858B-4EC7-A6F3-F6D665105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60748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07487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525402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2C5D41-CDAF-4A01-8A9A-510612D2C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662593A-3D3B-47BC-B822-3487C53DD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76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57F"/>
          </a:solidFill>
          <a:ln xmlns:a="http://schemas.openxmlformats.org/drawingml/2006/main" w="9525">
            <a:solidFill>
              <a:srgbClr val="24557F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D074007-DFF0-42F7-B9C3-A9A42115E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3850"/>
            <a:ext cx="3333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4557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4557F"/>
                </a:solidFill>
                <a:latin typeface="Aptos"/>
                <a:ea typeface="Aptos"/>
                <a:cs typeface="Aptos"/>
              </a:rPr>
              <a:t>DEMONSTRAÇÃO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465F10-0126-46A1-8752-28398534B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73A5B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73A5B"/>
                </a:solidFill>
                <a:latin typeface="Aptos"/>
                <a:ea typeface="Aptos"/>
                <a:cs typeface="Aptos"/>
              </a:rPr>
              <a:t>Agora o fluxo completo será executado no sistema.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AD37D9-C8E9-48E2-8337-4631C6E58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58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455185d65e4710"/>
          <a:stretch xmlns:a="http://schemas.openxmlformats.org/drawingml/2006/main"/>
        </p:blipFill>
        <p:spPr>
          <a:xfrm xmlns:a="http://schemas.openxmlformats.org/drawingml/2006/main">
            <a:off x="723900" y="1991960"/>
            <a:ext cx="6629400" cy="373133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49ABF2-5DF2-43B1-9B63-A4F55C874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09750"/>
            <a:ext cx="37719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B"/>
          </a:solidFill>
          <a:ln xmlns:a="http://schemas.openxmlformats.org/drawingml/2006/main" w="9525">
            <a:solidFill>
              <a:srgbClr val="173A5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8162F0-FDB9-45A5-B18E-0DEB98F7E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764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BFD0D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FD0DD"/>
                </a:solidFill>
                <a:latin typeface="Aptos"/>
                <a:ea typeface="Aptos"/>
                <a:cs typeface="Aptos"/>
              </a:rPr>
              <a:t>ROTEIRO • 5 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7B1BB5-11BE-48C8-B131-1A0CF8199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476500"/>
            <a:ext cx="3143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  Login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512AAD-94F2-435B-A1F7-205544AF9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905125"/>
            <a:ext cx="3143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  Página principal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18A018-11EB-4BE0-B4D4-086E590EF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333750"/>
            <a:ext cx="3143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  CRUD de veículo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4F4902-3FB5-48D4-8397-3C31D984D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762375"/>
            <a:ext cx="3143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D99B3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D99B3D"/>
                </a:solidFill>
                <a:latin typeface="Aptos"/>
                <a:ea typeface="Aptos"/>
                <a:cs typeface="Aptos"/>
              </a:rPr>
              <a:t>4  Registrar entrada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F11D3B-24BA-4781-BE17-7C5D5E569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191000"/>
            <a:ext cx="3143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5  Registrar saída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B39691-9B0B-4719-93D5-EEFCBF503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619625"/>
            <a:ext cx="3143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6  Consulta com filtros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BB3151-E3C5-43C3-9F59-F29DD2BBD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048250"/>
            <a:ext cx="3143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7  Formulário de contato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6217D5-E717-4863-BE00-8E6BD0D82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B16C4A-E381-4F0A-B165-BEBA75F13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0748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07487"/>
                </a:solidFill>
                <a:latin typeface="Aptos"/>
                <a:ea typeface="Aptos"/>
                <a:cs typeface="Aptos"/>
              </a:rPr>
              <a:t>PRÁTICAS EXTENSIONISTAS III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115217-8FAA-4F04-8C31-08947E283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60748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07487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3878784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C136EE-A355-484A-AC40-74A89BF2F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D9AC402-27B5-4940-B89D-CADAA3978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76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57F"/>
          </a:solidFill>
          <a:ln xmlns:a="http://schemas.openxmlformats.org/drawingml/2006/main" w="9525">
            <a:solidFill>
              <a:srgbClr val="24557F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4647ECD-89D3-4E2D-BF8E-752BD53C9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3850"/>
            <a:ext cx="3333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4557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4557F"/>
                </a:solidFill>
                <a:latin typeface="Aptos"/>
                <a:ea typeface="Aptos"/>
                <a:cs typeface="Aptos"/>
              </a:rPr>
              <a:t>RESULTADOS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450AF6-8438-40AE-937F-2796ADF5D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73A5B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73A5B"/>
                </a:solidFill>
                <a:latin typeface="Aptos"/>
                <a:ea typeface="Aptos"/>
                <a:cs typeface="Aptos"/>
              </a:rPr>
              <a:t>O MVP cobre o controle essencial e deixa uma evolução clara.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EDE35E-35EF-4137-B1DA-333453183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14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24557F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24557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83B7B1-6627-43FD-A561-901FAF44D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22383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0748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07487"/>
                </a:solidFill>
                <a:latin typeface="Aptos"/>
                <a:ea typeface="Aptos"/>
                <a:cs typeface="Aptos"/>
              </a:rPr>
              <a:t>tabelas relacionadas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E6CAA5-6950-4736-B188-D5FEF8E8B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95500"/>
            <a:ext cx="0" cy="11430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D8E0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AD4276-1942-4F8B-8464-813E8B5D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095500"/>
            <a:ext cx="114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24557F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24557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F44046-F02F-414A-97A2-5366AFEC5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800350"/>
            <a:ext cx="22383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0748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07487"/>
                </a:solidFill>
                <a:latin typeface="Aptos"/>
                <a:ea typeface="Aptos"/>
                <a:cs typeface="Aptos"/>
              </a:rPr>
              <a:t>etapas na demonstração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42A707-5752-400F-B9C8-17B121A9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095500"/>
            <a:ext cx="0" cy="11430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D8E0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55F419-96C7-4048-BE72-B0ACCCC2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095500"/>
            <a:ext cx="114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237A57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237A57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0428A5-AE9E-412A-BB81-2578D4C87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00350"/>
            <a:ext cx="22383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0748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07487"/>
                </a:solidFill>
                <a:latin typeface="Aptos"/>
                <a:ea typeface="Aptos"/>
                <a:cs typeface="Aptos"/>
              </a:rPr>
              <a:t>testes manuais registrados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66FB43-4977-4D8F-A2EB-D71D535D3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5143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EAF2F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4911B5-518F-4916-9A51-D92CB8C6A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576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4557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4557F"/>
                </a:solidFill>
                <a:latin typeface="Aptos"/>
                <a:ea typeface="Aptos"/>
                <a:cs typeface="Aptos"/>
              </a:rPr>
              <a:t>ENTREGUE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F5BDF8-283D-4300-B65C-37C139ABC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29125"/>
            <a:ext cx="43338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3A5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A5B"/>
                </a:solidFill>
                <a:latin typeface="Aptos"/>
                <a:ea typeface="Aptos"/>
                <a:cs typeface="Aptos"/>
              </a:rPr>
              <a:t>Login • painel • CRUD • movimentações • consulta • contato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99348C-8ABE-4F28-85A2-D52DAA51E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10000"/>
            <a:ext cx="54864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F1F46D-1159-4C17-9F31-94DA97352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576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0748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07487"/>
                </a:solidFill>
                <a:latin typeface="Aptos"/>
                <a:ea typeface="Aptos"/>
                <a:cs typeface="Aptos"/>
              </a:rPr>
              <a:t>PRÓXIMOS PASSOS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115FDD-9A78-439C-BBB4-CA46B4DD3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429125"/>
            <a:ext cx="4667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3A5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3A5B"/>
                </a:solidFill>
                <a:latin typeface="Aptos"/>
                <a:ea typeface="Aptos"/>
                <a:cs typeface="Aptos"/>
              </a:rPr>
              <a:t>Relatório para impressão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73A5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3A5B"/>
                </a:solidFill>
                <a:latin typeface="Aptos"/>
                <a:ea typeface="Aptos"/>
                <a:cs typeface="Aptos"/>
              </a:rPr>
              <a:t>CRUD completo dos cadastros auxiliares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73A5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3A5B"/>
                </a:solidFill>
                <a:latin typeface="Aptos"/>
                <a:ea typeface="Aptos"/>
                <a:cs typeface="Aptos"/>
              </a:rPr>
              <a:t>Perfis e permissões mais detalhados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C7C761-BC0A-421C-B315-C7F5A0709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CD7767-05C8-483F-AD30-295CD8B61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0748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07487"/>
                </a:solidFill>
                <a:latin typeface="Aptos"/>
                <a:ea typeface="Aptos"/>
                <a:cs typeface="Aptos"/>
              </a:rPr>
              <a:t>PRÁTICAS EXTENSIONISTAS III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79B0C3-A2E9-46D6-944D-7A896B41B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60748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07487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5229182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8823EE-4FC2-4C81-9882-D9280A24A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884EEA-61D8-4D56-B597-7A15D452F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BFD0D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FD0DD"/>
                </a:solidFill>
                <a:latin typeface="Aptos"/>
                <a:ea typeface="Aptos"/>
                <a:cs typeface="Aptos"/>
              </a:rPr>
              <a:t>ENCERRAMENTO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46E447-A6AC-4351-B031-FFF82C197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6667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Obrigado.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D323DE-E702-460F-9783-62F19B095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6667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D99B3D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D99B3D"/>
                </a:solidFill>
                <a:latin typeface="Aptos"/>
                <a:ea typeface="Aptos"/>
                <a:cs typeface="Aptos"/>
              </a:rPr>
              <a:t>Perguntas?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AC9FB5-AB4B-4727-A5E6-3A6105A30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57150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45678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3A8953-9DB0-4E82-9D71-84F19E962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5715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DDE8F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DDE8F1"/>
                </a:solidFill>
                <a:latin typeface="Aptos"/>
                <a:ea typeface="Aptos"/>
                <a:cs typeface="Aptos"/>
              </a:rPr>
              <a:t>Sistema de Entrada e Saída de Veículos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79F43C-E158-4A30-9C1D-43B46D71C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571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BFD0D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FD0DD"/>
                </a:solidFill>
                <a:latin typeface="Aptos"/>
                <a:ea typeface="Aptos"/>
                <a:cs typeface="Aptos"/>
              </a:rPr>
              <a:t>Rafael Dreyer • Práticas Extensionistas III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7FC53E-DF6C-4356-AF06-4FDAC35BD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428750"/>
            <a:ext cx="276225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57F"/>
          </a:solidFill>
          <a:ln xmlns:a="http://schemas.openxmlformats.org/drawingml/2006/main" w="9525">
            <a:solidFill>
              <a:srgbClr val="24557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75DC88-B698-4392-9DE3-58F130041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47875"/>
            <a:ext cx="2762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4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MVP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989086-A249-4864-A3BD-C5F16E006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24150"/>
            <a:ext cx="276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DDE8F1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DDE8F1"/>
                </a:solidFill>
                <a:latin typeface="Aptos"/>
                <a:ea typeface="Aptos"/>
                <a:cs typeface="Aptos"/>
              </a:rPr>
              <a:t>funcional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5A9EF9-36BD-4A8F-8CCC-D0A70644A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76600"/>
            <a:ext cx="2762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DDE8F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DE8F1"/>
                </a:solidFill>
                <a:latin typeface="Aptos"/>
                <a:ea typeface="Aptos"/>
                <a:cs typeface="Aptos"/>
              </a:rPr>
              <a:t>PHP + MySQL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85B74F-5413-47FF-93FB-890E568D2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395B7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C6130B-1A27-42C9-88B8-11FA9883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BFD0D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FD0DD"/>
                </a:solidFill>
                <a:latin typeface="Aptos"/>
                <a:ea typeface="Aptos"/>
                <a:cs typeface="Aptos"/>
              </a:rPr>
              <a:t>PRÁTICAS EXTENSIONISTAS III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28D4BE-8FFF-492B-97B3-230C50866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BFD0D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FD0DD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4088881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2026-07-11T22:17:48.4900000Z</dcterms:created>
  <dcterms:modified xsi:type="dcterms:W3CDTF">2026-07-11T22:17:48.4900000Z</dcterms:modified>
</coreProperties>
</file>